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3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34440" y="2606040"/>
            <a:ext cx="1645920" cy="1645920"/>
          </a:xfrm>
          <a:prstGeom prst="ellipse">
            <a:avLst/>
          </a:prstGeom>
          <a:noFill/>
          <a:ln w="101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08760" y="2880360"/>
            <a:ext cx="1097280" cy="1097280"/>
          </a:xfrm>
          <a:prstGeom prst="ellipse">
            <a:avLst/>
          </a:prstGeom>
          <a:noFill/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3154680"/>
            <a:ext cx="548640" cy="548640"/>
          </a:xfrm>
          <a:prstGeom prst="ellipse">
            <a:avLst/>
          </a:prstGeom>
          <a:noFill/>
          <a:ln w="19050">
            <a:solidFill>
              <a:srgbClr val="F4F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828800"/>
            <a:ext cx="4572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6705295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PRODUCT PITCH  //  HACKATHON DECK</a:t>
            </a:r>
          </a:p>
          <a:p>
            <a:pPr>
              <a:spcAft>
                <a:spcPts val="1000"/>
              </a:spcAft>
              <a:defRPr sz="7200" b="1">
                <a:solidFill>
                  <a:srgbClr val="F4F3EF"/>
                </a:solidFill>
                <a:latin typeface="Georgia"/>
              </a:defRPr>
            </a:pPr>
            <a:r>
              <a:t>AEOspy</a:t>
            </a:r>
          </a:p>
          <a:p>
            <a:pPr>
              <a:spcAft>
                <a:spcPts val="3200"/>
              </a:spcAft>
              <a:defRPr sz="2400" i="1">
                <a:solidFill>
                  <a:srgbClr val="10B981"/>
                </a:solidFill>
                <a:latin typeface="Georgia"/>
              </a:defRPr>
            </a:pPr>
            <a:r>
              <a:t>The First Answer Engine Optimization Radar</a:t>
            </a:r>
          </a:p>
          <a:p>
            <a:pPr>
              <a:defRPr sz="1100">
                <a:solidFill>
                  <a:srgbClr val="9CA3AF"/>
                </a:solidFill>
                <a:latin typeface="Courier New"/>
              </a:defRPr>
            </a:pPr>
            <a:r>
              <a:t>POWERED BY BRIGHT DATA WEB DATA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ourier New"/>
              </a:defRPr>
            </a:pPr>
            <a:r>
              <a:t>AEOSPY  // 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F4F3EF"/>
                </a:solidFill>
                <a:latin typeface="Georgia"/>
              </a:defRPr>
            </a:pPr>
            <a:r>
              <a:t>The Problem: The AEO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42062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8400" b="1">
                <a:solidFill>
                  <a:srgbClr val="D97706"/>
                </a:solidFill>
                <a:latin typeface="Georgia"/>
              </a:defRPr>
            </a:pPr>
            <a:r>
              <a:t>93%</a:t>
            </a:r>
          </a:p>
          <a:p>
            <a:pPr>
              <a:spcAft>
                <a:spcPts val="1600"/>
              </a:spcAft>
              <a:defRPr sz="1800">
                <a:solidFill>
                  <a:srgbClr val="F4F3EF"/>
                </a:solidFill>
                <a:latin typeface="Georgia"/>
              </a:defRPr>
            </a:pPr>
            <a:r>
              <a:t>of organic Google search leaders are completely omitted from ChatGPT and Perplexity recommendations.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Brands are investing heavily in SEO to rank #1 on Google, yet remaining completely invisible to the answer engines that consumers actually use to make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45920"/>
            <a:ext cx="53949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10B981"/>
                </a:solidFill>
                <a:latin typeface="Courier New"/>
              </a:defRPr>
            </a:pPr>
            <a:r>
              <a:t>CORE BARRIERS TO GTM REACH</a:t>
            </a:r>
          </a:p>
          <a:p>
            <a:pPr>
              <a:spcAft>
                <a:spcPts val="400"/>
              </a:spcAft>
              <a:defRPr sz="1600" b="1">
                <a:solidFill>
                  <a:srgbClr val="F4F3EF"/>
                </a:solidFill>
                <a:latin typeface="Georgia"/>
              </a:defRPr>
            </a:pPr>
            <a:r>
              <a:t>01  Black Box Citations</a:t>
            </a:r>
          </a:p>
          <a:p>
            <a:pPr>
              <a:spcAft>
                <a:spcPts val="16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LLMs pull facts and links from unmonitored indexes, offering marketing teams no dashboard or feedback loop to check visibility.</a:t>
            </a:r>
          </a:p>
          <a:p>
            <a:pPr>
              <a:spcAft>
                <a:spcPts val="400"/>
              </a:spcAft>
              <a:defRPr sz="1600" b="1">
                <a:solidFill>
                  <a:srgbClr val="F4F3EF"/>
                </a:solidFill>
                <a:latin typeface="Georgia"/>
              </a:defRPr>
            </a:pPr>
            <a:r>
              <a:t>02  AI Hallucinations</a:t>
            </a:r>
          </a:p>
          <a:p>
            <a:pPr>
              <a:spcAft>
                <a:spcPts val="16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Generative engines fabricate brand constraints, features, or outdated price details, creating severe compliance and messaging risks.</a:t>
            </a:r>
          </a:p>
          <a:p>
            <a:pPr>
              <a:spcAft>
                <a:spcPts val="400"/>
              </a:spcAft>
              <a:defRPr sz="1600" b="1">
                <a:solidFill>
                  <a:srgbClr val="F4F3EF"/>
                </a:solidFill>
                <a:latin typeface="Georgia"/>
              </a:defRPr>
            </a:pPr>
            <a:r>
              <a:t>03  Competitor Omissions</a:t>
            </a:r>
          </a:p>
          <a:p>
            <a:pPr>
              <a:spcAft>
                <a:spcPts val="1600"/>
              </a:spcAft>
              <a:defRPr sz="1300">
                <a:solidFill>
                  <a:srgbClr val="9CA3AF"/>
                </a:solidFill>
                <a:latin typeface="Arial"/>
              </a:defRPr>
            </a:pPr>
            <a:r>
              <a:t>In comparison queries, LLMs synthesize list comparisons, frequently prioritizing specific competitors due to structured schema layout alignment.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ourier New"/>
              </a:defRPr>
            </a:pPr>
            <a:r>
              <a:t>AEOSPY  // 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F4F3EF"/>
                </a:solidFill>
                <a:latin typeface="Georgia"/>
              </a:defRPr>
            </a:pPr>
            <a:r>
              <a:t>The Solution: AEOspy Radar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01 / BRAND INDEX</a:t>
            </a:r>
          </a:p>
          <a:p>
            <a:pPr>
              <a:spcAft>
                <a:spcPts val="1200"/>
              </a:spcAft>
              <a:defRPr sz="2000">
                <a:solidFill>
                  <a:srgbClr val="F4F3EF"/>
                </a:solidFill>
                <a:latin typeface="Georgia"/>
              </a:defRPr>
            </a:pPr>
            <a:r>
              <a:t>Multi-Agent Crawl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AEOspy extracts values, heading structures, and semantic entities directly from target homepages, creating the baseline profile.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02 / ENGINE SCANS</a:t>
            </a:r>
          </a:p>
          <a:p>
            <a:pPr>
              <a:spcAft>
                <a:spcPts val="1200"/>
              </a:spcAft>
              <a:defRPr sz="2000">
                <a:solidFill>
                  <a:srgbClr val="F4F3EF"/>
                </a:solidFill>
                <a:latin typeface="Georgia"/>
              </a:defRPr>
            </a:pPr>
            <a:r>
              <a:t>Citation Checks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Orchestrates parallel queries to 6 major AI engines using residential proxy nodes to capture actual user citation responses.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D97706"/>
                </a:solidFill>
                <a:latin typeface="Courier New"/>
              </a:defRPr>
            </a:pPr>
            <a:r>
              <a:t>03 / INSIGHT HUD</a:t>
            </a:r>
          </a:p>
          <a:p>
            <a:pPr>
              <a:spcAft>
                <a:spcPts val="1200"/>
              </a:spcAft>
              <a:defRPr sz="2000">
                <a:solidFill>
                  <a:srgbClr val="F4F3EF"/>
                </a:solidFill>
                <a:latin typeface="Georgia"/>
              </a:defRPr>
            </a:pPr>
            <a:r>
              <a:t>Gap Diagnostics</a:t>
            </a:r>
          </a:p>
          <a:p>
            <a:pPr>
              <a:defRPr sz="1300">
                <a:solidFill>
                  <a:srgbClr val="9CA3AF"/>
                </a:solidFill>
                <a:latin typeface="Arial"/>
              </a:defRPr>
            </a:pPr>
            <a:r>
              <a:t>Generates citation indexes, flags hallucinations, suggests schema optimizations, and builds synthetic voice CMO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ourier New"/>
              </a:defRPr>
            </a:pPr>
            <a:r>
              <a:t>AEOSPY  //  DATA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F4F3EF"/>
                </a:solidFill>
                <a:latin typeface="Georgia"/>
              </a:defRPr>
            </a:pPr>
            <a:r>
              <a:t>Bright Data Integration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56032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D97706"/>
                </a:solidFill>
                <a:latin typeface="Courier New"/>
              </a:defRPr>
            </a:pPr>
            <a:r>
              <a:t>CRAWLER ENGINE</a:t>
            </a:r>
          </a:p>
          <a:p>
            <a:pPr>
              <a:spcAft>
                <a:spcPts val="1200"/>
              </a:spcAft>
              <a:defRPr sz="2000">
                <a:solidFill>
                  <a:srgbClr val="F4F3EF"/>
                </a:solidFill>
                <a:latin typeface="Georgia"/>
              </a:defRPr>
            </a:pPr>
            <a:r>
              <a:t>Web Unlocker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Bypasses proxy blocking to scrape brand homepages and formats raw content structures to clean markdown for downstream LLM synthesis.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56032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645920"/>
            <a:ext cx="54864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011680"/>
            <a:ext cx="2194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D97706"/>
                </a:solidFill>
                <a:latin typeface="Courier New"/>
              </a:defRPr>
            </a:pPr>
            <a:r>
              <a:t>ORGANIC INTELLIGENCE</a:t>
            </a:r>
          </a:p>
          <a:p>
            <a:pPr>
              <a:spcAft>
                <a:spcPts val="1200"/>
              </a:spcAft>
              <a:defRPr sz="2000">
                <a:solidFill>
                  <a:srgbClr val="F4F3EF"/>
                </a:solidFill>
                <a:latin typeface="Georgia"/>
              </a:defRPr>
            </a:pPr>
            <a:r>
              <a:t>SERP API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Pulls organic search rankings for target queries, allowing the system to run SEO vs AEO visibility gap comparisons.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45920"/>
            <a:ext cx="256032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54864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194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D97706"/>
                </a:solidFill>
                <a:latin typeface="Courier New"/>
              </a:defRPr>
            </a:pPr>
            <a:r>
              <a:t>LLM SCRAPER</a:t>
            </a:r>
          </a:p>
          <a:p>
            <a:pPr>
              <a:spcAft>
                <a:spcPts val="1200"/>
              </a:spcAft>
              <a:defRPr sz="2000">
                <a:solidFill>
                  <a:srgbClr val="F4F3EF"/>
                </a:solidFill>
                <a:latin typeface="Georgia"/>
              </a:defRPr>
            </a:pPr>
            <a:r>
              <a:t>Scraping Browser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Spawns automated Playwright browser instances over WebSocket CDP to query ChatGPT Search, Gemini, and Perplexity.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23960" y="1645920"/>
            <a:ext cx="256032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23960" y="1645920"/>
            <a:ext cx="54864" cy="4389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011680"/>
            <a:ext cx="219456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900" b="1">
                <a:solidFill>
                  <a:srgbClr val="D97706"/>
                </a:solidFill>
                <a:latin typeface="Courier New"/>
              </a:defRPr>
            </a:pPr>
            <a:r>
              <a:t>COMPETITOR SCRAPER</a:t>
            </a:r>
          </a:p>
          <a:p>
            <a:pPr>
              <a:spcAft>
                <a:spcPts val="1200"/>
              </a:spcAft>
              <a:defRPr sz="2000">
                <a:solidFill>
                  <a:srgbClr val="F4F3EF"/>
                </a:solidFill>
                <a:latin typeface="Georgia"/>
              </a:defRPr>
            </a:pPr>
            <a:r>
              <a:t>Dataset Scraping</a:t>
            </a:r>
          </a:p>
          <a:p>
            <a:pPr>
              <a:defRPr sz="1200">
                <a:solidFill>
                  <a:srgbClr val="9CA3AF"/>
                </a:solidFill>
                <a:latin typeface="Arial"/>
              </a:defRPr>
            </a:pPr>
            <a:r>
              <a:t>Performs parallel batch scrapes of top-ranking competitor pages to extract strategic positioning and entity gaps.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ourier New"/>
              </a:defRPr>
            </a:pPr>
            <a:r>
              <a:t>AEOSPY  // 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F4F3EF"/>
                </a:solidFill>
                <a:latin typeface="Georgia"/>
              </a:defRPr>
            </a:pPr>
            <a:r>
              <a:t>Multi-Model Intelligence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5912" cy="128016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73152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  <a:latin typeface="Courier New"/>
              </a:defRPr>
            </a:pPr>
            <a:r>
              <a:t>ENTITY PROCESSING &amp; KEYWORDS</a:t>
            </a:r>
          </a:p>
          <a:p>
            <a:pPr>
              <a:defRPr sz="1800" b="1">
                <a:solidFill>
                  <a:srgbClr val="F4F3EF"/>
                </a:solidFill>
                <a:latin typeface="Georgia"/>
              </a:defRPr>
            </a:pPr>
            <a:r>
              <a:t>Google Gemini (via AIML API)</a:t>
            </a:r>
            <a:r>
              <a:rPr sz="1300" b="0">
                <a:solidFill>
                  <a:srgbClr val="9CA3AF"/>
                </a:solidFill>
                <a:latin typeface="Arial"/>
              </a:rPr>
              <a:t>  —  Analyzes raw homepage markdown crawls to perform semantic entity extraction and construct list profiles of high-intent search keywords.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10725912" cy="128016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54680"/>
            <a:ext cx="73152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  <a:latin typeface="Courier New"/>
              </a:defRPr>
            </a:pPr>
            <a:r>
              <a:t>ADVANCED ANALYSIS SYNTHESIS</a:t>
            </a:r>
          </a:p>
          <a:p>
            <a:pPr>
              <a:defRPr sz="1800" b="1">
                <a:solidFill>
                  <a:srgbClr val="F4F3EF"/>
                </a:solidFill>
                <a:latin typeface="Georgia"/>
              </a:defRPr>
            </a:pPr>
            <a:r>
              <a:t>Anthropic Claude 3.5 Sonnet</a:t>
            </a:r>
            <a:r>
              <a:rPr sz="1300" b="0">
                <a:solidFill>
                  <a:srgbClr val="9CA3AF"/>
                </a:solidFill>
                <a:latin typeface="Arial"/>
              </a:rPr>
              <a:t>  —  Acts as the principal reasoning agent. Synthesizes crawler responses, ranking data, and citation structures into actionable recommendation streams via SSE.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663440"/>
            <a:ext cx="10725912" cy="128016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663440"/>
            <a:ext cx="73152" cy="1280160"/>
          </a:xfrm>
          <a:prstGeom prst="rect">
            <a:avLst/>
          </a:prstGeom>
          <a:solidFill>
            <a:srgbClr val="F4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463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D97706"/>
                </a:solidFill>
                <a:latin typeface="Courier New"/>
              </a:defRPr>
            </a:pPr>
            <a:r>
              <a:t>SYNTHETIC CMO AUDIO BRIEFS</a:t>
            </a:r>
          </a:p>
          <a:p>
            <a:pPr>
              <a:defRPr sz="1800" b="1">
                <a:solidFill>
                  <a:srgbClr val="F4F3EF"/>
                </a:solidFill>
                <a:latin typeface="Georgia"/>
              </a:defRPr>
            </a:pPr>
            <a:r>
              <a:t>Speechmatics Audio Engine</a:t>
            </a:r>
            <a:r>
              <a:rPr sz="1300" b="0">
                <a:solidFill>
                  <a:srgbClr val="9CA3AF"/>
                </a:solidFill>
                <a:latin typeface="Arial"/>
              </a:rPr>
              <a:t>  —  Converts strategic insights into studio-quality executive briefings. Synthesizes a customizable CMO voice stream playable directly in the HUD.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D97706"/>
                </a:solidFill>
                <a:latin typeface="Courier New"/>
              </a:defRPr>
            </a:pPr>
            <a:r>
              <a:t>AEOSPY  //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>
                <a:solidFill>
                  <a:srgbClr val="F4F3EF"/>
                </a:solidFill>
                <a:latin typeface="Georgia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F4F3EF"/>
                </a:solidFill>
                <a:latin typeface="Georgia"/>
              </a:defRPr>
            </a:pPr>
            <a:r>
              <a:t>Serverless Stream Infrastructure</a:t>
            </a:r>
          </a:p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t>•  Next.js 15 App Router: </a:t>
            </a:r>
            <a:r>
              <a:rPr b="0">
                <a:solidFill>
                  <a:srgbClr val="9CA3AF"/>
                </a:solidFill>
                <a:latin typeface="Arial"/>
              </a:rPr>
              <a:t>Server-side rendering with stream-compatible dynamic API routes.</a:t>
            </a:r>
          </a:p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t>•  Drizzle ORM &amp; LibSQL/Turso: </a:t>
            </a:r>
            <a:r>
              <a:rPr b="0">
                <a:solidFill>
                  <a:srgbClr val="9CA3AF"/>
                </a:solidFill>
                <a:latin typeface="Arial"/>
              </a:rPr>
              <a:t>Serverless-ready SQLite configuration that switches to cloud databases instantly via environment keys.</a:t>
            </a:r>
          </a:p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t>•  Server-Sent Events (SSE): </a:t>
            </a:r>
            <a:r>
              <a:rPr b="0">
                <a:solidFill>
                  <a:srgbClr val="9CA3AF"/>
                </a:solidFill>
                <a:latin typeface="Arial"/>
              </a:rPr>
              <a:t>Maintains persistent single-connection pipelines to push status streams directly to the dashboard HUD.</a:t>
            </a:r>
          </a:p>
          <a:p>
            <a:pPr>
              <a:spcAft>
                <a:spcPts val="1000"/>
              </a:spcAft>
              <a:defRPr sz="1300" b="1">
                <a:solidFill>
                  <a:srgbClr val="D97706"/>
                </a:solidFill>
                <a:latin typeface="Georgia"/>
              </a:defRPr>
            </a:pPr>
            <a:r>
              <a:t>•  Framer Motion &amp; Canvas LERP: </a:t>
            </a:r>
            <a:r>
              <a:rPr b="0">
                <a:solidFill>
                  <a:srgbClr val="9CA3AF"/>
                </a:solidFill>
                <a:latin typeface="Arial"/>
              </a:rPr>
              <a:t>Highly responsive dark-mode layout utilizing lightweight math formulas to eliminate thread lag.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645920"/>
            <a:ext cx="5394960" cy="4389120"/>
          </a:xfrm>
          <a:prstGeom prst="rect">
            <a:avLst/>
          </a:prstGeom>
          <a:solidFill>
            <a:srgbClr val="13120E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10B981"/>
                </a:solidFill>
                <a:latin typeface="Courier New"/>
              </a:defRPr>
            </a:pPr>
            <a:r>
              <a:t>PIPELINE TOPOLOGY</a:t>
            </a:r>
          </a:p>
          <a:p>
            <a:pPr>
              <a:spcAft>
                <a:spcPts val="300"/>
              </a:spcAft>
              <a:defRPr sz="1400" b="1">
                <a:solidFill>
                  <a:srgbClr val="F4F3EF"/>
                </a:solidFill>
                <a:latin typeface="Georgia"/>
              </a:defRPr>
            </a:pPr>
            <a:r>
              <a:t>01  Client Browser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Initiates Audit Request via POST payload</a:t>
            </a:r>
          </a:p>
          <a:p>
            <a:pPr>
              <a:spcAft>
                <a:spcPts val="300"/>
              </a:spcAft>
              <a:defRPr sz="1400" b="1">
                <a:solidFill>
                  <a:srgbClr val="F4F3EF"/>
                </a:solidFill>
                <a:latin typeface="Georgia"/>
              </a:defRPr>
            </a:pPr>
            <a:r>
              <a:t>02  Next.js Server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Logs database record &amp; triggers AuditOrchestrator</a:t>
            </a:r>
          </a:p>
          <a:p>
            <a:pPr>
              <a:spcAft>
                <a:spcPts val="300"/>
              </a:spcAft>
              <a:defRPr sz="1400" b="1">
                <a:solidFill>
                  <a:srgbClr val="F4F3EF"/>
                </a:solidFill>
                <a:latin typeface="Georgia"/>
              </a:defRPr>
            </a:pPr>
            <a:r>
              <a:t>03  Orchestrator Swarm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Deploys concurrent Web Scraper &amp; SERP tasks</a:t>
            </a:r>
          </a:p>
          <a:p>
            <a:pPr>
              <a:spcAft>
                <a:spcPts val="300"/>
              </a:spcAft>
              <a:defRPr sz="1400" b="1">
                <a:solidFill>
                  <a:srgbClr val="F4F3EF"/>
                </a:solidFill>
                <a:latin typeface="Georgia"/>
              </a:defRPr>
            </a:pPr>
            <a:r>
              <a:t>04  Model Pipeline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Gemini processes keywords; Claude builds final analysis</a:t>
            </a:r>
          </a:p>
          <a:p>
            <a:pPr>
              <a:spcAft>
                <a:spcPts val="300"/>
              </a:spcAft>
              <a:defRPr sz="1400" b="1">
                <a:solidFill>
                  <a:srgbClr val="F4F3EF"/>
                </a:solidFill>
                <a:latin typeface="Georgia"/>
              </a:defRPr>
            </a:pPr>
            <a:r>
              <a:t>05  SSE Controller</a:t>
            </a:r>
          </a:p>
          <a:p>
            <a:pPr>
              <a:spcAft>
                <a:spcPts val="1000"/>
              </a:spcAft>
              <a:defRPr sz="1100">
                <a:solidFill>
                  <a:srgbClr val="9CA3AF"/>
                </a:solidFill>
                <a:latin typeface="Arial"/>
              </a:defRPr>
            </a:pPr>
            <a:r>
              <a:t>Streams live progress updates back to Client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2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97280"/>
            <a:ext cx="9445752" cy="4663440"/>
          </a:xfrm>
          <a:prstGeom prst="rect">
            <a:avLst/>
          </a:prstGeom>
          <a:solidFill>
            <a:srgbClr val="0B0A0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8897112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800"/>
              </a:spcAft>
              <a:defRPr sz="4800" b="1">
                <a:solidFill>
                  <a:srgbClr val="F4F3EF"/>
                </a:solidFill>
                <a:latin typeface="Georgia"/>
              </a:defRPr>
            </a:pPr>
            <a:r>
              <a:t>AEOspy</a:t>
            </a:r>
          </a:p>
          <a:p>
            <a:pPr algn="ctr">
              <a:spcAft>
                <a:spcPts val="2400"/>
              </a:spcAft>
              <a:defRPr sz="2400" i="1">
                <a:solidFill>
                  <a:srgbClr val="D97706"/>
                </a:solidFill>
                <a:latin typeface="Georgia"/>
              </a:defRPr>
            </a:pPr>
            <a:r>
              <a:t>The Future of Web Visibility is Answer Engine Optimization</a:t>
            </a:r>
          </a:p>
          <a:p>
            <a:pPr algn="ctr">
              <a:spcAft>
                <a:spcPts val="3600"/>
              </a:spcAft>
              <a:defRPr sz="1600">
                <a:solidFill>
                  <a:srgbClr val="9CA3AF"/>
                </a:solidFill>
                <a:latin typeface="Arial"/>
              </a:defRPr>
            </a:pPr>
            <a:r>
              <a:t>By unifying Bright Data's Web Scraping proxies with Multi-Model Intelligence, AEOspy provides brands with the tools to transition from classic SEO to the era of Generative AI Search.</a:t>
            </a:r>
          </a:p>
          <a:p>
            <a:pPr algn="ctr">
              <a:defRPr sz="1400" b="1">
                <a:solidFill>
                  <a:srgbClr val="10B981"/>
                </a:solidFill>
                <a:latin typeface="Courier New"/>
              </a:defRPr>
            </a:pPr>
            <a:r>
              <a:t>https://github.com/Shikhyy/AEOspy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